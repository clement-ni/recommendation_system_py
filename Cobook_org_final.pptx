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7A9145-F06E-4C35-865B-DC0D7341A5B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AAE4C3-5E9A-47AC-AEDC-D6F4B98CD7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399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AE4C3-5E9A-47AC-AEDC-D6F4B98CD74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7219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02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9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2279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936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453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1618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405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094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948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84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3252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33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pps.apple.com/us/app/cobook-org/id6743755666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BF5D61-4C05-A0BF-6720-FE99773154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noProof="0" dirty="0"/>
              <a:t>Cobook.org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9151C7-7489-B613-4E9B-8806B99DA6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noProof="0" dirty="0"/>
              <a:t>PRESENTATION TECHNIQUE</a:t>
            </a:r>
          </a:p>
        </p:txBody>
      </p:sp>
    </p:spTree>
    <p:extLst>
      <p:ext uri="{BB962C8B-B14F-4D97-AF65-F5344CB8AC3E}">
        <p14:creationId xmlns:p14="http://schemas.microsoft.com/office/powerpoint/2010/main" val="358874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CD77D-D1A9-91C6-3A05-30BD453F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C’est quoi Cobook.org ?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2EDE12-CC17-3280-169D-53DD3AA59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noProof="0" dirty="0"/>
              <a:t> Lien : </a:t>
            </a:r>
            <a:r>
              <a:rPr lang="fr-FR" noProof="0" dirty="0">
                <a:hlinkClick r:id="rId3"/>
              </a:rPr>
              <a:t>https://apps.apple.com/us/app/cobook-org/id6743755666</a:t>
            </a:r>
            <a:endParaRPr lang="fr-FR" noProof="0" dirty="0"/>
          </a:p>
          <a:p>
            <a:pPr marL="0" indent="0">
              <a:buNone/>
            </a:pPr>
            <a:r>
              <a:rPr lang="fr-FR" noProof="0" dirty="0"/>
              <a:t> Objectif : Numération des informations des boutiques et des restaurants sur Grenoble</a:t>
            </a:r>
          </a:p>
          <a:p>
            <a:pPr marL="0" indent="0">
              <a:buNone/>
            </a:pPr>
            <a:r>
              <a:rPr lang="fr-FR" noProof="0" dirty="0"/>
              <a:t> Raison d’</a:t>
            </a:r>
            <a:r>
              <a:rPr lang="fr-FR" noProof="0" dirty="0" err="1"/>
              <a:t>etre</a:t>
            </a:r>
            <a:r>
              <a:rPr lang="fr-FR" noProof="0" dirty="0"/>
              <a:t> : manque de transparence pour certains boutiques et restaurants sur     Grenoble et Besoin de démocratisation des outils numérique</a:t>
            </a:r>
            <a:r>
              <a:rPr lang="fr-FR" dirty="0"/>
              <a:t>s pour eux </a:t>
            </a:r>
          </a:p>
          <a:p>
            <a:pPr marL="0" indent="0">
              <a:buNone/>
            </a:pPr>
            <a:r>
              <a:rPr lang="fr-FR" noProof="0" dirty="0"/>
              <a:t> Organisme</a:t>
            </a:r>
            <a:r>
              <a:rPr lang="fr-FR" dirty="0"/>
              <a:t> : </a:t>
            </a:r>
            <a:r>
              <a:rPr lang="fr-FR" dirty="0" err="1"/>
              <a:t>Cobook</a:t>
            </a:r>
            <a:r>
              <a:rPr lang="fr-FR" dirty="0"/>
              <a:t>, association inscrite dans le registre de la préfecture de Grenoble</a:t>
            </a:r>
          </a:p>
          <a:p>
            <a:pPr marL="0" indent="0">
              <a:buNone/>
            </a:pPr>
            <a:r>
              <a:rPr lang="fr-FR" noProof="0" dirty="0"/>
              <a:t> </a:t>
            </a:r>
            <a:r>
              <a:rPr lang="fr-FR" dirty="0"/>
              <a:t>Pourquoi ce projet ? Machine </a:t>
            </a:r>
            <a:r>
              <a:rPr lang="fr-FR" dirty="0" err="1"/>
              <a:t>learning</a:t>
            </a:r>
            <a:r>
              <a:rPr lang="fr-FR" dirty="0"/>
              <a:t> + Développement full stack + </a:t>
            </a:r>
            <a:r>
              <a:rPr lang="fr-FR" dirty="0" err="1"/>
              <a:t>Devops</a:t>
            </a:r>
            <a:endParaRPr lang="fr-FR" noProof="0" dirty="0"/>
          </a:p>
          <a:p>
            <a:pPr marL="0" indent="0">
              <a:buNone/>
            </a:pP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788865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FFE666-0355-5906-4A75-F65B0D953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Que</a:t>
            </a:r>
            <a:r>
              <a:rPr lang="en-US" altLang="zh-CN" dirty="0"/>
              <a:t> </a:t>
            </a:r>
            <a:r>
              <a:rPr lang="en-US" altLang="zh-CN" dirty="0" err="1"/>
              <a:t>fais</a:t>
            </a:r>
            <a:r>
              <a:rPr lang="en-US" altLang="zh-CN" dirty="0"/>
              <a:t>-je Chez cobook.org 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8BD706-217A-A809-FA30-8A1C3D2D3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altLang="zh-CN" dirty="0"/>
              <a:t> Responsabilité : Développeur Full Stack, Data </a:t>
            </a:r>
            <a:r>
              <a:rPr lang="fr-FR" altLang="zh-CN" dirty="0" err="1"/>
              <a:t>Scientist</a:t>
            </a:r>
            <a:r>
              <a:rPr lang="fr-FR" altLang="zh-CN" dirty="0"/>
              <a:t>, Secrétaire</a:t>
            </a:r>
          </a:p>
          <a:p>
            <a:pPr marL="0" indent="0">
              <a:buNone/>
            </a:pPr>
            <a:r>
              <a:rPr lang="fr-FR" altLang="zh-CN" dirty="0"/>
              <a:t> Missions : 1. Développement du </a:t>
            </a:r>
            <a:r>
              <a:rPr lang="fr-FR" altLang="zh-CN" dirty="0" err="1"/>
              <a:t>Back-end</a:t>
            </a:r>
            <a:r>
              <a:rPr lang="fr-FR" altLang="zh-CN" dirty="0"/>
              <a:t> en Next.js et Python </a:t>
            </a:r>
          </a:p>
          <a:p>
            <a:pPr marL="0" indent="0">
              <a:buNone/>
            </a:pPr>
            <a:r>
              <a:rPr lang="fr-FR" altLang="zh-CN" dirty="0"/>
              <a:t>2. Traduction des textes sur </a:t>
            </a:r>
            <a:r>
              <a:rPr lang="fr-FR" altLang="zh-CN" dirty="0" err="1"/>
              <a:t>Front-end</a:t>
            </a:r>
            <a:r>
              <a:rPr lang="fr-FR" altLang="zh-CN" dirty="0"/>
              <a:t> (en React.js) </a:t>
            </a:r>
          </a:p>
          <a:p>
            <a:pPr marL="0" indent="0">
              <a:buNone/>
            </a:pPr>
            <a:r>
              <a:rPr lang="fr-FR" altLang="zh-CN" dirty="0"/>
              <a:t>3. Conception et deploiement du système de recommandation (le pipeline, le modèle, les APIs)</a:t>
            </a:r>
          </a:p>
          <a:p>
            <a:pPr marL="0" indent="0">
              <a:buNone/>
            </a:pPr>
            <a:r>
              <a:rPr lang="fr-FR" altLang="zh-CN" dirty="0"/>
              <a:t>4. Gestion du projet (Jira, </a:t>
            </a:r>
            <a:r>
              <a:rPr lang="fr-FR" altLang="zh-CN" dirty="0" err="1"/>
              <a:t>Github</a:t>
            </a:r>
            <a:r>
              <a:rPr lang="fr-FR" altLang="zh-CN" dirty="0"/>
              <a:t>)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36649810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Système de Recommandation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Neural Collaborative Filtering — Architecture, Entraînement, Évaluation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du Système de Recommandation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86000"/>
            <a:ext cx="246888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Collaborative</a:t>
            </a:r>
            <a:br/>
            <a:r>
              <a:t>Filtering (NCF)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Modèle PyTorch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6120" y="2286000"/>
            <a:ext cx="246888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Content-Based</a:t>
            </a:r>
            <a:br/>
            <a:r>
              <a:t>Filtering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Recherche textuelle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TF-IDF + Cosinus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Fuzzy matching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2286000"/>
            <a:ext cx="246888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Hybrid</a:t>
            </a:r>
            <a:br/>
            <a:r>
              <a:t>CF + Content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+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alpha × CF + (1-α) × CB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2286000"/>
            <a:ext cx="246888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Popularité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Utilisateur anonyme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Moyenne des notes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463040"/>
            <a:ext cx="5486400" cy="5029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Flask REST API — POST /api/recommendations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Sélection automatique :  connu + pas de query → CF  |  connu + query → Hybrid  |  anonyme + query → Content-Based  |  anonyme + pas de query → Popularité</a:t>
            </a:r>
          </a:p>
        </p:txBody>
      </p:sp>
      <p:sp>
        <p:nvSpPr>
          <p:cNvPr id="9" name="Down Arrow 8"/>
          <p:cNvSpPr/>
          <p:nvPr/>
        </p:nvSpPr>
        <p:spPr>
          <a:xfrm>
            <a:off x="5760720" y="1965960"/>
            <a:ext cx="365760" cy="27432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du Modèle NCF (He et al., 2017)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1645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user_id, item_id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5029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GMF Path — Interactions Linéaires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User Embedding [n_users, 24]</a:t>
            </a:r>
            <a:br/>
            <a:r>
              <a:t>• Item Embedding [n_items, 24]</a:t>
            </a:r>
            <a:br/>
            <a:r>
              <a:t>• Produit élément par élément → vecteur [batch, 24]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2743200"/>
            <a:ext cx="566928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MLP Path — Interactions Non-linéaires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2461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User MLP Emb [n_users, 24]  +  Item MLP Emb [n_items, 24]</a:t>
            </a:r>
            <a:br/>
            <a:r>
              <a:t>• Concat [48] → Linear(48,24) + ReLU + Dropout(0.3)</a:t>
            </a:r>
            <a:br/>
            <a:r>
              <a:t>• Linear(24,12) + ReLU + Dropout(0.3)</a:t>
            </a:r>
            <a:br/>
            <a:r>
              <a:t>• Sortie: vecteur [batch, 12]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846320"/>
            <a:ext cx="7315200" cy="5029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Fusion: Concat [24+12=36] → Linear(36,1) + user_bias + item_bias + global_bias → Score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97280" y="2331720"/>
            <a:ext cx="274320" cy="32004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2743200" y="4434840"/>
            <a:ext cx="274320" cy="320040"/>
          </a:xfrm>
          <a:prstGeom prst="down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8686800" y="4434840"/>
            <a:ext cx="274320" cy="320040"/>
          </a:xfrm>
          <a:prstGeom prst="down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Processus d'Entraînement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45920"/>
            <a:ext cx="347472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Sources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Ratings explicites (1-5 étoiles)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~35 000 avis utilisateurs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Feedback implicite (durée)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Durée navigation → échelle log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Converti en scores 1.0-4.0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645920"/>
            <a:ext cx="347472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1945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Optimizer: Adam (lr=1e-3)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Loss: MSE (régression)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Batch: 256 | Epochs: 80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Weight decay: 5e-4 (L2)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Dropout: 0.3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Anti-Surapprentissage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1945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Dropout(0.3) — désactive 30%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des neurones aléatoirement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Weight Decay (L2)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Tire les poids vers zéro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Empêche l'explosion des embeddings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2377440" cy="11887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Forward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Input [user, item]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→ NCF → score prédit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37744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Loss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MSE = mean(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(prédit - réel)²)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2356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3931920"/>
            <a:ext cx="2377440" cy="11887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Backward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Autograd calcule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∂Loss/∂Param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5820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69680" y="3931920"/>
            <a:ext cx="2377440" cy="118872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Update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Adam ajuste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embeddings + poids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Calibri"/>
              </a:defRPr>
            </a:pPr>
            <a:r>
              <a:t>Boucle d'entraînement standard Deep Learning — ~15 000 paramètres entraînables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d'Inférence (Recommandation)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828800"/>
            <a:ext cx="246888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Étape 1</a:t>
            </a:r>
            <a:br/>
            <a:r>
              <a:t>Construction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Répliquer user_idx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N fois, pairer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avec tous les items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→ tenseur [N, 2]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8036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91840" y="1828800"/>
            <a:ext cx="246888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Étape 2</a:t>
            </a:r>
            <a:br/>
            <a:r>
              <a:t>Forward Pass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Un seul passage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dans 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N items scorés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en parallèle → [N]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0644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46888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Étape 3</a:t>
            </a:r>
            <a:br/>
            <a:r>
              <a:t>Tri &amp; Filtrage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Trier par score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descendant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Exclure items déjà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vus → Top-K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0" y="1828800"/>
            <a:ext cx="2468880" cy="201168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Étape 4</a:t>
            </a:r>
            <a:br/>
            <a:r>
              <a:t>Réponse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Mapper indices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→ IDs fournisseurs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Attacher noms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→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06240"/>
            <a:ext cx="11338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Exemple :  user_90 demande Top-5</a:t>
            </a:r>
            <a:br/>
            <a:r>
              <a:t>[89,89,...,89] × [0,1,...,199]  →  stack [200, 2]  →  forward()  →  [200] scores</a:t>
            </a:r>
            <a:br/>
            <a:r>
              <a:t>argsort desc → exclure vus → Top-5: [Zen Clinic (4.78), Pure Lounge (4.69), Diamond Place (4.57), ...]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Résultats d'Évaluation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Train/Test split 80/20  |  500 utilisateurs  |  200 items  |  ~35 000 ratings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Métriques de Régression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t>RMSE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0.68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NRMSE: 17%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t>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0.54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&lt; 1 point d'erreur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3035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Métriques de Classement (Top-5)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t>P@5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t>R@5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t>NDCG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t>Hit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11155680" cy="4114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Test de Différenciation: 5/5 PASS — Chaque utilisateur reçoit des recommandations uniques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user_1   →  Zen Clinic, Pure Lounge, Diamond Place, Golden Clinic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user_10  →  Crystal Place, Diamond Place, Golden Lab, Crystal Wellness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user_50  →  River Studio, Sunrise Lab, Golden Clinic, Summit Hub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user_100 →  Lotus Clinic, Harmony Lounge, Diamond Hub, Ocean Clinic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Pipeline &amp; CI/CD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192024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Base de données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Ratings + Historique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+ Métadonnées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1284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92024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TRANSFORM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Nettoyage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Suppr. nulls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Durée → scores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0740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192024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Quality Gates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Min 1000 ratings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Min 50 users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0196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192024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TRAIN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Modèle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80/20 split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80 epochs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9652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52560" y="1828800"/>
            <a:ext cx="1920240" cy="1463040"/>
          </a:xfrm>
          <a:prstGeom prst="roundRect">
            <a:avLst/>
          </a:prstGeom>
          <a:solidFill>
            <a:srgbClr val="95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Métriques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RMSE ≤ 1.2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HitRate ≥ 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657600"/>
            <a:ext cx="1133856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GitHub Actions CI/CD — Exécution automatique sur chaque push/PR vers 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Pipeline automatisé: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1. Checkout code  →  2. Setup Python 3.11  →  3. Install deps  →  4. Generate DB  →  5. Run pipeline  →  6. Run evaluate.py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7. Upload quality_report.json comme artifact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ED7D31"/>
                </a:solidFill>
                <a:latin typeface="Calibri"/>
              </a:defRPr>
            </a:pPr>
            <a:r>
              <a:t>Si quality gates échouent (RMSE &gt; 1.2 ou HitRate &lt; 30%) → CI fail → PR bloquée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Concept Clé : Factorisation Matricielle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3657600" cy="1828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Matrice R (creuse)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     p1    p2    p3    p4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u1   4.0    ?    3.2    ?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u2    ?    5.0    ?    2.1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u3   1.5    ?     ?    4.0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t>? = inconnu (~65% de la matrice)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00400" cy="1828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U (utilisateurs, k=2)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u1  [0.9,  0.8]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u2  [0.7, -0.5]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u3  [-0.6, 0.9]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t>Chaque ligne = goût utilisateur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657600" cy="182880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Vᵀ (items, k=2)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p1  [ 0.9, -0.3]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p2  [ 0.8,  0.1]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p3  [ 0.5,  0.9]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888888"/>
                </a:solidFill>
                <a:latin typeface="Calibri"/>
              </a:defRPr>
            </a:pPr>
            <a:r>
              <a:t>Chaque ligne = caractéristiques item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1143000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Prédiction = produit scalaire du vecteur utilisateur × vecteur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AD47"/>
                </a:solidFill>
                <a:latin typeface="Consolas"/>
              </a:defRPr>
            </a:pPr>
            <a:r>
              <a:t>u1 × p3 = [0.9, 0.8] · [0.5, 0.9] = 0.45 + 0.72 = 1.17  (match élevé !)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ED7D31"/>
                </a:solidFill>
                <a:latin typeface="Consolas"/>
              </a:defRPr>
            </a:pPr>
            <a:r>
              <a:t>u3 × p1 = [-0.6, 0.9] · [0.9, -0.3] = -0.54 + (-0.27) = -0.81  (match faible)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L'entraînement ajuste U et V pour que U × Vᵀ ≈ R sur les entrées connues. Les entrées inconnues sont remplies automatiquement → ce sont les recommandations.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Scalabilité &amp; Améliorations Futures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45920"/>
            <a:ext cx="5303520" cy="22860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Limitations Actuelles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Scoring brute-force (user × tous les items)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Fonctionne pour 500 × 200 = 100K paires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Ne passe pas à l'échelle pour des millions d'items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Données synthétiques (patterns gaussiens)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RMSE 0.67 non comparable aux benchmarks réels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Scaling Production : Deux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945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Étape 1 — Recall (FAISS / ANN)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1M items → ~1000 candidats en O(log 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Étape 2 — Ranking (NCF)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Scorer uniquement 1000 candidats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Retourner Top-K à l'utilisateur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389120"/>
            <a:ext cx="246888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Early Stopping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Arrêter quand la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loss de validation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stagne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389120"/>
            <a:ext cx="246888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Optuna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Recherche bayésienne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d'hyperparamètres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(50 essais)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389120"/>
            <a:ext cx="246888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Temporel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Pondérer les notes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récentes plus que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les anciennes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4389120"/>
            <a:ext cx="2468880" cy="1463040"/>
          </a:xfrm>
          <a:prstGeom prst="roundRect">
            <a:avLst/>
          </a:prstGeom>
          <a:solidFill>
            <a:srgbClr val="95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Attention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Apprendre quels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facteurs latents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comptent le plus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 Yuzhen  |  niyuzhen2020@gmail.com</a:t>
            </a:r>
          </a:p>
          <a:p>
            <a:r>
              <a:t>GitHub: github.com/Clement-NI/recommendation_system_py</a:t>
            </a:r>
          </a:p>
          <a:p>
            <a:r>
              <a:t>PyTorch  |  Flask  |  SQLite  |  GitHub Actions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积分">
  <a:themeElements>
    <a:clrScheme name="积分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积分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积分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168</Words>
  <Application>Microsoft Office PowerPoint</Application>
  <PresentationFormat>宽屏</PresentationFormat>
  <Paragraphs>15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Tw Cen MT</vt:lpstr>
      <vt:lpstr>Tw Cen MT Condensed</vt:lpstr>
      <vt:lpstr>Wingdings 3</vt:lpstr>
      <vt:lpstr>积分</vt:lpstr>
      <vt:lpstr>Cobook.org</vt:lpstr>
      <vt:lpstr>C’est quoi Cobook.org ?</vt:lpstr>
      <vt:lpstr>Que fais-je Chez cobook.org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Yuzhen Ni</dc:creator>
  <cp:lastModifiedBy>Yuzhen Ni</cp:lastModifiedBy>
  <cp:revision>2</cp:revision>
  <dcterms:created xsi:type="dcterms:W3CDTF">2026-06-10T20:19:05Z</dcterms:created>
  <dcterms:modified xsi:type="dcterms:W3CDTF">2026-06-10T20:35:36Z</dcterms:modified>
</cp:coreProperties>
</file>