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70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7A9145-F06E-4C35-865B-DC0D7341A5B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AAE4C3-5E9A-47AC-AEDC-D6F4B98CD7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399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AE4C3-5E9A-47AC-AEDC-D6F4B98CD74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87219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9026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995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2279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9363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9453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1618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405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094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948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84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93252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22E71990-083C-4995-8D2F-70BE06554877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365B5AB-F873-440F-9E6E-C71B0A36D7B0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331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pps.apple.com/us/app/cobook-org/id6743755666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BF5D61-4C05-A0BF-6720-FE99773154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noProof="0" dirty="0"/>
              <a:t>Cobook.org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09151C7-7489-B613-4E9B-8806B99DA6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noProof="0" dirty="0"/>
              <a:t>PRESENTATION TECHNIQUE</a:t>
            </a:r>
          </a:p>
        </p:txBody>
      </p:sp>
    </p:spTree>
    <p:extLst>
      <p:ext uri="{BB962C8B-B14F-4D97-AF65-F5344CB8AC3E}">
        <p14:creationId xmlns:p14="http://schemas.microsoft.com/office/powerpoint/2010/main" val="3588748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CD77D-D1A9-91C6-3A05-30BD453F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C’est quoi Cobook.org ?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2EDE12-CC17-3280-169D-53DD3AA59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noProof="0" dirty="0"/>
              <a:t> Lien : </a:t>
            </a:r>
            <a:r>
              <a:rPr lang="fr-FR" noProof="0" dirty="0">
                <a:hlinkClick r:id="rId3"/>
              </a:rPr>
              <a:t>https://apps.apple.com/us/app/cobook-org/id6743755666</a:t>
            </a:r>
            <a:endParaRPr lang="fr-FR" noProof="0" dirty="0"/>
          </a:p>
          <a:p>
            <a:pPr marL="0" indent="0">
              <a:buNone/>
            </a:pPr>
            <a:r>
              <a:rPr lang="fr-FR" noProof="0" dirty="0"/>
              <a:t> Objectif : Numération des informations des boutiques et des restaurants sur Grenoble</a:t>
            </a:r>
          </a:p>
          <a:p>
            <a:pPr marL="0" indent="0">
              <a:buNone/>
            </a:pPr>
            <a:r>
              <a:rPr lang="fr-FR" noProof="0" dirty="0"/>
              <a:t> Raison d’</a:t>
            </a:r>
            <a:r>
              <a:rPr lang="fr-FR" noProof="0" dirty="0" err="1"/>
              <a:t>etre</a:t>
            </a:r>
            <a:r>
              <a:rPr lang="fr-FR" noProof="0" dirty="0"/>
              <a:t> : manque de transparence pour certains boutiques et restaurants sur     Grenoble et Besoin de démocratisation des outils numériques pour eux </a:t>
            </a:r>
          </a:p>
          <a:p>
            <a:pPr marL="0" indent="0">
              <a:buNone/>
            </a:pPr>
            <a:r>
              <a:rPr lang="fr-FR" noProof="0" dirty="0"/>
              <a:t> Organisme : </a:t>
            </a:r>
            <a:r>
              <a:rPr lang="fr-FR" noProof="0" dirty="0" err="1"/>
              <a:t>Cobook</a:t>
            </a:r>
            <a:r>
              <a:rPr lang="fr-FR" noProof="0" dirty="0"/>
              <a:t>, association inscrite dans le registre de la préfecture de Grenoble</a:t>
            </a:r>
          </a:p>
          <a:p>
            <a:pPr marL="0" indent="0">
              <a:buNone/>
            </a:pPr>
            <a:r>
              <a:rPr lang="fr-FR" noProof="0" dirty="0"/>
              <a:t> Pourquoi ce projet ? Machine </a:t>
            </a:r>
            <a:r>
              <a:rPr lang="fr-FR" noProof="0" dirty="0" err="1"/>
              <a:t>learning</a:t>
            </a:r>
            <a:r>
              <a:rPr lang="fr-FR" noProof="0" dirty="0"/>
              <a:t> + Développement full stack + </a:t>
            </a:r>
            <a:r>
              <a:rPr lang="fr-FR" noProof="0" dirty="0" err="1"/>
              <a:t>Devops</a:t>
            </a:r>
            <a:endParaRPr lang="fr-FR" noProof="0" dirty="0"/>
          </a:p>
          <a:p>
            <a:pPr marL="0" indent="0">
              <a:buNone/>
            </a:pP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788865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FFE666-0355-5906-4A75-F65B0D953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Que fais-je Chez cobook.org ?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8BD706-217A-A809-FA30-8A1C3D2D3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noProof="0" dirty="0"/>
              <a:t> Responsabilité : Développeur Full Stack, Data </a:t>
            </a:r>
            <a:r>
              <a:rPr lang="fr-FR" noProof="0" dirty="0" err="1"/>
              <a:t>Scientist</a:t>
            </a:r>
            <a:r>
              <a:rPr lang="fr-FR" noProof="0" dirty="0"/>
              <a:t>, Secrétaire</a:t>
            </a:r>
          </a:p>
          <a:p>
            <a:pPr marL="0" indent="0">
              <a:buNone/>
            </a:pPr>
            <a:r>
              <a:rPr lang="fr-FR" noProof="0" dirty="0"/>
              <a:t> Missions : 1. Développement du </a:t>
            </a:r>
            <a:r>
              <a:rPr lang="fr-FR" noProof="0" dirty="0" err="1"/>
              <a:t>Back-end</a:t>
            </a:r>
            <a:r>
              <a:rPr lang="fr-FR" noProof="0" dirty="0"/>
              <a:t> en Next.js et Python </a:t>
            </a:r>
          </a:p>
          <a:p>
            <a:pPr marL="0" indent="0">
              <a:buNone/>
            </a:pPr>
            <a:r>
              <a:rPr lang="fr-FR" noProof="0" dirty="0"/>
              <a:t>2. Traduction des textes sur </a:t>
            </a:r>
            <a:r>
              <a:rPr lang="fr-FR" noProof="0" dirty="0" err="1"/>
              <a:t>Front-end</a:t>
            </a:r>
            <a:r>
              <a:rPr lang="fr-FR" noProof="0" dirty="0"/>
              <a:t> (en React.js) </a:t>
            </a:r>
          </a:p>
          <a:p>
            <a:pPr marL="0" indent="0">
              <a:buNone/>
            </a:pPr>
            <a:r>
              <a:rPr lang="fr-FR" noProof="0" dirty="0"/>
              <a:t>3. Conception et deploiement du système de recommandation (le pipeline, le modèle, les APIs)</a:t>
            </a:r>
          </a:p>
          <a:p>
            <a:pPr marL="0" indent="0">
              <a:buNone/>
            </a:pPr>
            <a:r>
              <a:rPr lang="fr-FR" noProof="0" dirty="0"/>
              <a:t>4. Gestion du projet (Jira, </a:t>
            </a:r>
            <a:r>
              <a:rPr lang="fr-FR" noProof="0" dirty="0" err="1"/>
              <a:t>Github</a:t>
            </a:r>
            <a:r>
              <a:rPr lang="fr-FR" noProof="0" dirty="0"/>
              <a:t>)</a:t>
            </a:r>
          </a:p>
          <a:p>
            <a:pPr marL="0" indent="0">
              <a:buNone/>
            </a:pP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53664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1F3938-16EB-47DE-11B8-38A67413E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err="1"/>
              <a:t>Front-end</a:t>
            </a:r>
            <a:endParaRPr lang="fr-FR" noProof="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9F2793-62FD-931D-4ED1-D2C214D2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Stack : </a:t>
            </a:r>
            <a:r>
              <a:rPr lang="fr-FR" noProof="0" dirty="0" err="1"/>
              <a:t>React</a:t>
            </a:r>
            <a:r>
              <a:rPr lang="fr-FR" dirty="0"/>
              <a:t> Native</a:t>
            </a:r>
            <a:r>
              <a:rPr lang="fr-FR" noProof="0" dirty="0"/>
              <a:t>  </a:t>
            </a:r>
          </a:p>
          <a:p>
            <a:r>
              <a:rPr lang="fr-FR" noProof="0" dirty="0"/>
              <a:t>1. Ensemble des Components Open Source (</a:t>
            </a:r>
            <a:r>
              <a:rPr lang="fr-FR" noProof="0" dirty="0" err="1"/>
              <a:t>Masonary</a:t>
            </a:r>
            <a:r>
              <a:rPr lang="fr-FR" noProof="0" dirty="0"/>
              <a:t> </a:t>
            </a:r>
            <a:r>
              <a:rPr lang="fr-FR" noProof="0" dirty="0" err="1"/>
              <a:t>list</a:t>
            </a:r>
            <a:r>
              <a:rPr lang="fr-FR" noProof="0" dirty="0"/>
              <a:t> …)</a:t>
            </a:r>
          </a:p>
          <a:p>
            <a:r>
              <a:rPr lang="fr-FR" noProof="0" dirty="0"/>
              <a:t>2. Pas difficile de Maintenir</a:t>
            </a:r>
          </a:p>
          <a:p>
            <a:r>
              <a:rPr lang="fr-FR" noProof="0" dirty="0"/>
              <a:t>3. Bien intégré avec le </a:t>
            </a:r>
            <a:r>
              <a:rPr lang="fr-FR" noProof="0" dirty="0" err="1"/>
              <a:t>Back-end</a:t>
            </a:r>
            <a:r>
              <a:rPr lang="fr-FR" noProof="0" dirty="0"/>
              <a:t> </a:t>
            </a:r>
          </a:p>
          <a:p>
            <a:r>
              <a:rPr lang="fr-FR" dirty="0"/>
              <a:t>4. Support des deux OS (Android, IOS) </a:t>
            </a:r>
          </a:p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593208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33B2CE-AB9F-206F-51B6-D8BC8340D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err="1"/>
              <a:t>Back-end</a:t>
            </a:r>
            <a:endParaRPr lang="fr-FR" noProof="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DE7670-62DA-AB23-2118-A5FD35E0D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Stack : Next.js + Python ( </a:t>
            </a:r>
            <a:r>
              <a:rPr lang="fr-FR" noProof="0" dirty="0" err="1"/>
              <a:t>Pytorch</a:t>
            </a:r>
            <a:r>
              <a:rPr lang="fr-FR" noProof="0" dirty="0"/>
              <a:t>, Django) + SQL</a:t>
            </a:r>
          </a:p>
          <a:p>
            <a:r>
              <a:rPr lang="fr-FR" noProof="0" dirty="0"/>
              <a:t>1. Base de données Relationnel (</a:t>
            </a:r>
            <a:r>
              <a:rPr lang="fr-FR" noProof="0" dirty="0" err="1"/>
              <a:t>MySql</a:t>
            </a:r>
            <a:r>
              <a:rPr lang="fr-FR" noProof="0" dirty="0"/>
              <a:t>) sur AWS (</a:t>
            </a:r>
            <a:r>
              <a:rPr lang="fr-FR" noProof="0" dirty="0" err="1"/>
              <a:t>west</a:t>
            </a:r>
            <a:r>
              <a:rPr lang="fr-FR" noProof="0" dirty="0"/>
              <a:t>-eu) </a:t>
            </a:r>
          </a:p>
          <a:p>
            <a:r>
              <a:rPr lang="fr-FR" dirty="0"/>
              <a:t>2. Choix de Next.js : Grammaire simple, facile a écrire le code et le maintenir, concurrence des </a:t>
            </a:r>
            <a:r>
              <a:rPr lang="fr-FR" dirty="0" err="1"/>
              <a:t>requete</a:t>
            </a:r>
            <a:r>
              <a:rPr lang="fr-FR" dirty="0"/>
              <a:t> API et des </a:t>
            </a:r>
            <a:r>
              <a:rPr lang="fr-FR" dirty="0" err="1"/>
              <a:t>operations</a:t>
            </a:r>
            <a:r>
              <a:rPr lang="fr-FR" dirty="0"/>
              <a:t> </a:t>
            </a:r>
            <a:r>
              <a:rPr lang="fr-FR" dirty="0" err="1"/>
              <a:t>CRUDs</a:t>
            </a:r>
            <a:r>
              <a:rPr lang="fr-FR" dirty="0"/>
              <a:t>. Pas besoin de trop de ressources de CPU (single thread)</a:t>
            </a:r>
          </a:p>
          <a:p>
            <a:r>
              <a:rPr lang="fr-FR" noProof="0" dirty="0"/>
              <a:t>3. API</a:t>
            </a:r>
            <a:r>
              <a:rPr lang="fr-FR" dirty="0"/>
              <a:t>s : Fast API en Python qui support les requêtes </a:t>
            </a:r>
            <a:r>
              <a:rPr lang="fr-FR" dirty="0" err="1"/>
              <a:t>async</a:t>
            </a:r>
            <a:r>
              <a:rPr lang="fr-FR" dirty="0"/>
              <a:t> </a:t>
            </a:r>
          </a:p>
          <a:p>
            <a:r>
              <a:rPr lang="fr-FR" noProof="0" dirty="0"/>
              <a:t>4.</a:t>
            </a:r>
            <a:r>
              <a:rPr lang="fr-FR" dirty="0"/>
              <a:t> Système de </a:t>
            </a:r>
            <a:r>
              <a:rPr lang="fr-FR" dirty="0" err="1"/>
              <a:t>recommendation</a:t>
            </a:r>
            <a:r>
              <a:rPr lang="fr-FR" dirty="0"/>
              <a:t> sur le serveur local ( pour la raison économique ) </a:t>
            </a:r>
          </a:p>
          <a:p>
            <a:r>
              <a:rPr lang="fr-FR" noProof="0" dirty="0"/>
              <a:t>5. </a:t>
            </a:r>
            <a:r>
              <a:rPr lang="fr-FR" noProof="0" dirty="0" err="1"/>
              <a:t>Devops</a:t>
            </a:r>
            <a:r>
              <a:rPr lang="fr-FR" noProof="0" dirty="0"/>
              <a:t> avec Docker et </a:t>
            </a:r>
            <a:r>
              <a:rPr lang="fr-FR" noProof="0" dirty="0" err="1"/>
              <a:t>GithubAction</a:t>
            </a:r>
            <a:r>
              <a:rPr lang="fr-FR" dirty="0"/>
              <a:t> 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8071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Système de Recommandation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Neural Collaborative </a:t>
            </a:r>
            <a:r>
              <a:rPr lang="fr-FR" noProof="0" dirty="0" err="1"/>
              <a:t>Filtering</a:t>
            </a:r>
            <a:r>
              <a:rPr lang="fr-FR" noProof="0" dirty="0"/>
              <a:t> — Architecture, Entraînement, Évaluation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Architecture du Système de Recommandation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286000"/>
            <a:ext cx="2468880" cy="1463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Collaborative</a:t>
            </a:r>
            <a:br>
              <a:rPr lang="fr-FR" noProof="0" dirty="0"/>
            </a:br>
            <a:r>
              <a:rPr lang="fr-FR" noProof="0" dirty="0" err="1">
                <a:solidFill>
                  <a:srgbClr val="FFFFFF"/>
                </a:solidFill>
              </a:rPr>
              <a:t>Filtering</a:t>
            </a:r>
            <a:r>
              <a:rPr lang="fr-FR" noProof="0" dirty="0">
                <a:solidFill>
                  <a:srgbClr val="FFFFFF"/>
                </a:solidFill>
              </a:rPr>
              <a:t> (NCF)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Utilisateur connu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Pas de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Modèle </a:t>
            </a:r>
            <a:r>
              <a:rPr lang="fr-FR" noProof="0" dirty="0" err="1">
                <a:solidFill>
                  <a:srgbClr val="FFFFFF"/>
                </a:solidFill>
              </a:rPr>
              <a:t>PyTorch</a:t>
            </a:r>
            <a:endParaRPr lang="fr-FR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3246120" y="2286000"/>
            <a:ext cx="2468880" cy="14630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Content-Based</a:t>
            </a:r>
            <a:br>
              <a:rPr lang="fr-FR" noProof="0" dirty="0"/>
            </a:br>
            <a:r>
              <a:rPr lang="fr-FR" noProof="0" dirty="0" err="1">
                <a:solidFill>
                  <a:srgbClr val="FFFFFF"/>
                </a:solidFill>
              </a:rPr>
              <a:t>Filtering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Recherche textuelle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TF-IDF + Cosinus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Fuzzy</a:t>
            </a:r>
            <a:r>
              <a:rPr lang="fr-FR" noProof="0" dirty="0">
                <a:solidFill>
                  <a:srgbClr val="FFFFFF"/>
                </a:solidFill>
              </a:rPr>
              <a:t> </a:t>
            </a:r>
            <a:r>
              <a:rPr lang="fr-FR" noProof="0" dirty="0" err="1">
                <a:solidFill>
                  <a:srgbClr val="FFFFFF"/>
                </a:solidFill>
              </a:rPr>
              <a:t>matching</a:t>
            </a:r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5943600" y="2286000"/>
            <a:ext cx="2468880" cy="14630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Hybrid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CF + Content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Utilisateur connu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+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alpha × CF + (1-α) × CB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2286000"/>
            <a:ext cx="2468880" cy="146304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Popularité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Utilisateur anonyme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Pas de recherche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Moyenne des notes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0874" y="1335024"/>
            <a:ext cx="5486400" cy="5029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Flask REST API — POST /api/</a:t>
            </a:r>
            <a:r>
              <a:rPr lang="fr-FR" noProof="0" dirty="0" err="1">
                <a:solidFill>
                  <a:srgbClr val="FFFFFF"/>
                </a:solidFill>
              </a:rPr>
              <a:t>recommendations</a:t>
            </a:r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Sélection automatique :  connu + pas de </a:t>
            </a:r>
            <a:r>
              <a:rPr lang="fr-FR" noProof="0" dirty="0" err="1"/>
              <a:t>query</a:t>
            </a:r>
            <a:r>
              <a:rPr lang="fr-FR" noProof="0" dirty="0"/>
              <a:t> → CF  |  connu + </a:t>
            </a:r>
            <a:r>
              <a:rPr lang="fr-FR" noProof="0" dirty="0" err="1"/>
              <a:t>query</a:t>
            </a:r>
            <a:r>
              <a:rPr lang="fr-FR" noProof="0" dirty="0"/>
              <a:t> → </a:t>
            </a:r>
            <a:r>
              <a:rPr lang="fr-FR" noProof="0" dirty="0" err="1"/>
              <a:t>Hybrid</a:t>
            </a:r>
            <a:r>
              <a:rPr lang="fr-FR" noProof="0" dirty="0"/>
              <a:t>  |  anonyme + </a:t>
            </a:r>
            <a:r>
              <a:rPr lang="fr-FR" noProof="0" dirty="0" err="1"/>
              <a:t>query</a:t>
            </a:r>
            <a:r>
              <a:rPr lang="fr-FR" noProof="0" dirty="0"/>
              <a:t> → Content-Based  |  anonyme + pas de </a:t>
            </a:r>
            <a:r>
              <a:rPr lang="fr-FR" noProof="0" dirty="0" err="1"/>
              <a:t>query</a:t>
            </a:r>
            <a:r>
              <a:rPr lang="fr-FR" noProof="0" dirty="0"/>
              <a:t> → Popularité</a:t>
            </a:r>
          </a:p>
        </p:txBody>
      </p:sp>
      <p:sp>
        <p:nvSpPr>
          <p:cNvPr id="9" name="Down Arrow 8"/>
          <p:cNvSpPr/>
          <p:nvPr/>
        </p:nvSpPr>
        <p:spPr>
          <a:xfrm>
            <a:off x="5760720" y="1965960"/>
            <a:ext cx="365760" cy="274320"/>
          </a:xfrm>
          <a:prstGeom prst="down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Architecture du Modèle NCF (He et al., 2017)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1645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user_id</a:t>
            </a:r>
            <a:r>
              <a:rPr lang="fr-FR" noProof="0" dirty="0">
                <a:solidFill>
                  <a:srgbClr val="FFFFFF"/>
                </a:solidFill>
              </a:rPr>
              <a:t>, </a:t>
            </a:r>
            <a:r>
              <a:rPr lang="fr-FR" noProof="0" dirty="0" err="1">
                <a:solidFill>
                  <a:srgbClr val="FFFFFF"/>
                </a:solidFill>
              </a:rPr>
              <a:t>item_id</a:t>
            </a:r>
            <a:endParaRPr lang="fr-FR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274320" y="2743200"/>
            <a:ext cx="5029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GMF Path — Interactions Linéaires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• User </a:t>
            </a:r>
            <a:r>
              <a:rPr lang="fr-FR" noProof="0" dirty="0" err="1"/>
              <a:t>Embedding</a:t>
            </a:r>
            <a:r>
              <a:rPr lang="fr-FR" noProof="0" dirty="0"/>
              <a:t> [</a:t>
            </a:r>
            <a:r>
              <a:rPr lang="fr-FR" noProof="0" dirty="0" err="1"/>
              <a:t>n_users</a:t>
            </a:r>
            <a:r>
              <a:rPr lang="fr-FR" noProof="0" dirty="0"/>
              <a:t>, 24]</a:t>
            </a:r>
            <a:br>
              <a:rPr lang="fr-FR" noProof="0" dirty="0"/>
            </a:br>
            <a:r>
              <a:rPr lang="fr-FR" noProof="0" dirty="0"/>
              <a:t>• Item </a:t>
            </a:r>
            <a:r>
              <a:rPr lang="fr-FR" noProof="0" dirty="0" err="1"/>
              <a:t>Embedding</a:t>
            </a:r>
            <a:r>
              <a:rPr lang="fr-FR" noProof="0" dirty="0"/>
              <a:t> [</a:t>
            </a:r>
            <a:r>
              <a:rPr lang="fr-FR" noProof="0" dirty="0" err="1"/>
              <a:t>n_items</a:t>
            </a:r>
            <a:r>
              <a:rPr lang="fr-FR" noProof="0" dirty="0"/>
              <a:t>, 24]</a:t>
            </a:r>
            <a:br>
              <a:rPr lang="fr-FR" noProof="0" dirty="0"/>
            </a:br>
            <a:r>
              <a:rPr lang="fr-FR" noProof="0" dirty="0"/>
              <a:t>• Produit élément par élément → vecteur [batch, 24]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2743200"/>
            <a:ext cx="566928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MLP Path — Interactions Non-linéaires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2461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• User MLP Emb [</a:t>
            </a:r>
            <a:r>
              <a:rPr lang="fr-FR" noProof="0" dirty="0" err="1"/>
              <a:t>n_users</a:t>
            </a:r>
            <a:r>
              <a:rPr lang="fr-FR" noProof="0" dirty="0"/>
              <a:t>, 24]  +  Item MLP Emb [</a:t>
            </a:r>
            <a:r>
              <a:rPr lang="fr-FR" noProof="0" dirty="0" err="1"/>
              <a:t>n_items</a:t>
            </a:r>
            <a:r>
              <a:rPr lang="fr-FR" noProof="0" dirty="0"/>
              <a:t>, 24]</a:t>
            </a:r>
            <a:br>
              <a:rPr lang="fr-FR" noProof="0" dirty="0"/>
            </a:br>
            <a:r>
              <a:rPr lang="fr-FR" noProof="0" dirty="0"/>
              <a:t>• </a:t>
            </a:r>
            <a:r>
              <a:rPr lang="fr-FR" noProof="0" dirty="0" err="1"/>
              <a:t>Concat</a:t>
            </a:r>
            <a:r>
              <a:rPr lang="fr-FR" noProof="0" dirty="0"/>
              <a:t> [48] → Linear(48,24) + </a:t>
            </a:r>
            <a:r>
              <a:rPr lang="fr-FR" noProof="0" dirty="0" err="1"/>
              <a:t>ReLU</a:t>
            </a:r>
            <a:r>
              <a:rPr lang="fr-FR" noProof="0" dirty="0"/>
              <a:t> + Dropout(0.3)</a:t>
            </a:r>
            <a:br>
              <a:rPr lang="fr-FR" noProof="0" dirty="0"/>
            </a:br>
            <a:r>
              <a:rPr lang="fr-FR" noProof="0" dirty="0"/>
              <a:t>• Linear(24,12) + </a:t>
            </a:r>
            <a:r>
              <a:rPr lang="fr-FR" noProof="0" dirty="0" err="1"/>
              <a:t>ReLU</a:t>
            </a:r>
            <a:r>
              <a:rPr lang="fr-FR" noProof="0" dirty="0"/>
              <a:t> + Dropout(0.3)</a:t>
            </a:r>
            <a:br>
              <a:rPr lang="fr-FR" noProof="0" dirty="0"/>
            </a:br>
            <a:r>
              <a:rPr lang="fr-FR" noProof="0" dirty="0"/>
              <a:t>• Sortie: vecteur [batch, 12]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846320"/>
            <a:ext cx="7315200" cy="5029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Fusion: </a:t>
            </a:r>
            <a:r>
              <a:rPr lang="fr-FR" noProof="0" dirty="0" err="1">
                <a:solidFill>
                  <a:srgbClr val="FFFFFF"/>
                </a:solidFill>
              </a:rPr>
              <a:t>Concat</a:t>
            </a:r>
            <a:r>
              <a:rPr lang="fr-FR" noProof="0" dirty="0">
                <a:solidFill>
                  <a:srgbClr val="FFFFFF"/>
                </a:solidFill>
              </a:rPr>
              <a:t> [24+12=36] → Linear(36,1) + </a:t>
            </a:r>
            <a:r>
              <a:rPr lang="fr-FR" noProof="0" dirty="0" err="1">
                <a:solidFill>
                  <a:srgbClr val="FFFFFF"/>
                </a:solidFill>
              </a:rPr>
              <a:t>user_bias</a:t>
            </a:r>
            <a:r>
              <a:rPr lang="fr-FR" noProof="0" dirty="0">
                <a:solidFill>
                  <a:srgbClr val="FFFFFF"/>
                </a:solidFill>
              </a:rPr>
              <a:t> + </a:t>
            </a:r>
            <a:r>
              <a:rPr lang="fr-FR" noProof="0" dirty="0" err="1">
                <a:solidFill>
                  <a:srgbClr val="FFFFFF"/>
                </a:solidFill>
              </a:rPr>
              <a:t>item_bias</a:t>
            </a:r>
            <a:r>
              <a:rPr lang="fr-FR" noProof="0" dirty="0">
                <a:solidFill>
                  <a:srgbClr val="FFFFFF"/>
                </a:solidFill>
              </a:rPr>
              <a:t> + </a:t>
            </a:r>
            <a:r>
              <a:rPr lang="fr-FR" noProof="0" dirty="0" err="1">
                <a:solidFill>
                  <a:srgbClr val="FFFFFF"/>
                </a:solidFill>
              </a:rPr>
              <a:t>global_bias</a:t>
            </a:r>
            <a:r>
              <a:rPr lang="fr-FR" noProof="0" dirty="0">
                <a:solidFill>
                  <a:srgbClr val="FFFFFF"/>
                </a:solidFill>
              </a:rPr>
              <a:t> → Score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97280" y="2331720"/>
            <a:ext cx="274320" cy="320040"/>
          </a:xfrm>
          <a:prstGeom prst="down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Down Arrow 9"/>
          <p:cNvSpPr/>
          <p:nvPr/>
        </p:nvSpPr>
        <p:spPr>
          <a:xfrm>
            <a:off x="2743200" y="4434840"/>
            <a:ext cx="274320" cy="320040"/>
          </a:xfrm>
          <a:prstGeom prst="down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Down Arrow 10"/>
          <p:cNvSpPr/>
          <p:nvPr/>
        </p:nvSpPr>
        <p:spPr>
          <a:xfrm>
            <a:off x="8686800" y="4434840"/>
            <a:ext cx="274320" cy="320040"/>
          </a:xfrm>
          <a:prstGeom prst="downArrow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Processus d'Entraînement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67866"/>
            <a:ext cx="3474720" cy="201168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Sources de Données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Ratings explicites (1-5 étoiles)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~35 000 avis utilisateurs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Feedback implicite (durée)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Durée navigation → échelle log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Converti en scores 1.0-4.0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645920"/>
            <a:ext cx="3474720" cy="201168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Configuration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Optimizer: Adam (lr=1e-3)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Loss: MSE (régression)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Batch: 256 | Epochs: 80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Weight decay: 5e-4 (L2)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Dropout: 0.3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Anti-Surapprentissage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Dropout(0.3) — désactive 30%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des neurones aléatoirement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Weight Decay (L2)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Tire les poids vers zéro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Empêche l'explosion des embeddings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931920"/>
            <a:ext cx="2377440" cy="11887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1. Forward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E8E8E8"/>
                </a:solidFill>
              </a:rPr>
              <a:t>Input [user, item]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E8E8E8"/>
                </a:solidFill>
              </a:rPr>
              <a:t>→ NCF → score prédit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377440" cy="11887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2. Loss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E8E8E8"/>
                </a:solidFill>
              </a:rPr>
              <a:t>MSE = </a:t>
            </a:r>
            <a:r>
              <a:rPr lang="fr-FR" noProof="0" dirty="0" err="1">
                <a:solidFill>
                  <a:srgbClr val="E8E8E8"/>
                </a:solidFill>
              </a:rPr>
              <a:t>mean</a:t>
            </a:r>
            <a:r>
              <a:rPr lang="fr-FR" noProof="0" dirty="0">
                <a:solidFill>
                  <a:srgbClr val="E8E8E8"/>
                </a:solidFill>
              </a:rPr>
              <a:t>(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E8E8E8"/>
                </a:solidFill>
              </a:rPr>
              <a:t>(prédit - réel)²)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62356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Rounded Rectangle 12"/>
          <p:cNvSpPr/>
          <p:nvPr/>
        </p:nvSpPr>
        <p:spPr>
          <a:xfrm>
            <a:off x="6035040" y="3931920"/>
            <a:ext cx="2377440" cy="11887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3. </a:t>
            </a:r>
            <a:r>
              <a:rPr lang="fr-FR" noProof="0" dirty="0" err="1">
                <a:solidFill>
                  <a:srgbClr val="FFFFFF"/>
                </a:solidFill>
              </a:rPr>
              <a:t>Backward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E8E8E8"/>
                </a:solidFill>
              </a:rPr>
              <a:t>Autograd</a:t>
            </a:r>
            <a:r>
              <a:rPr lang="fr-FR" noProof="0" dirty="0">
                <a:solidFill>
                  <a:srgbClr val="E8E8E8"/>
                </a:solidFill>
              </a:rPr>
              <a:t> calcule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E8E8E8"/>
                </a:solidFill>
              </a:rPr>
              <a:t>∂Loss/∂Param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58200" y="441655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Rounded Rectangle 14"/>
          <p:cNvSpPr/>
          <p:nvPr/>
        </p:nvSpPr>
        <p:spPr>
          <a:xfrm>
            <a:off x="8869680" y="3931920"/>
            <a:ext cx="2377440" cy="118872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4. Update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E8E8E8"/>
                </a:solidFill>
              </a:rPr>
              <a:t>Adam ajuste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E8E8E8"/>
                </a:solidFill>
              </a:rPr>
              <a:t>embeddings</a:t>
            </a:r>
            <a:r>
              <a:rPr lang="fr-FR" noProof="0" dirty="0">
                <a:solidFill>
                  <a:srgbClr val="E8E8E8"/>
                </a:solidFill>
              </a:rPr>
              <a:t> + poids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Boucle d'entraînement standard Deep Learning — ~15 000 paramètres entraînables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Pipeline d'Inférence (Recommandation)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828800"/>
            <a:ext cx="2468880" cy="201168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1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Construction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Répliquer </a:t>
            </a:r>
            <a:r>
              <a:rPr lang="fr-FR" noProof="0" dirty="0" err="1">
                <a:solidFill>
                  <a:srgbClr val="FFFFFF"/>
                </a:solidFill>
              </a:rPr>
              <a:t>user_idx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N fois, pairer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avec tous les items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→ tenseur [N, 2]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8036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3291840" y="1828800"/>
            <a:ext cx="2468880" cy="201168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2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Forward </a:t>
            </a:r>
            <a:r>
              <a:rPr lang="fr-FR" noProof="0" dirty="0" err="1">
                <a:solidFill>
                  <a:srgbClr val="FFFFFF"/>
                </a:solidFill>
              </a:rPr>
              <a:t>Pass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Un seul passage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dans le NCF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N items scorés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en parallèle → [N]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0644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468880" cy="20116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3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Tri &amp; Filtrage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Trier par score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descendant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Exclure items déjà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vus → Top-K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732520" y="2724912"/>
            <a:ext cx="365760" cy="2286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9144000" y="1828800"/>
            <a:ext cx="2468880" cy="201168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Étape 4</a:t>
            </a:r>
            <a:br>
              <a:rPr lang="fr-FR" noProof="0" dirty="0"/>
            </a:br>
            <a:r>
              <a:rPr lang="fr-FR" noProof="0" dirty="0">
                <a:solidFill>
                  <a:srgbClr val="FFFFFF"/>
                </a:solidFill>
              </a:rPr>
              <a:t>Réponse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Mapper indices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→ IDs fournisseurs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Attacher noms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→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06240"/>
            <a:ext cx="11338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Exemple :  user_90 demande Top-5</a:t>
            </a:r>
            <a:br>
              <a:rPr lang="fr-FR" noProof="0" dirty="0"/>
            </a:br>
            <a:r>
              <a:rPr lang="fr-FR" noProof="0" dirty="0"/>
              <a:t>[89,89,...,89] × [0,1,...,199]  →  stack [200, 2]  →  </a:t>
            </a:r>
            <a:r>
              <a:rPr lang="fr-FR" noProof="0" dirty="0" err="1"/>
              <a:t>forward</a:t>
            </a:r>
            <a:r>
              <a:rPr lang="fr-FR" noProof="0" dirty="0"/>
              <a:t>()  →  [200] scores</a:t>
            </a:r>
            <a:br>
              <a:rPr lang="fr-FR" noProof="0" dirty="0"/>
            </a:br>
            <a:r>
              <a:rPr lang="fr-FR" noProof="0" dirty="0" err="1"/>
              <a:t>argsort</a:t>
            </a:r>
            <a:r>
              <a:rPr lang="fr-FR" noProof="0" dirty="0"/>
              <a:t> </a:t>
            </a:r>
            <a:r>
              <a:rPr lang="fr-FR" noProof="0" dirty="0" err="1"/>
              <a:t>desc</a:t>
            </a:r>
            <a:r>
              <a:rPr lang="fr-FR" noProof="0" dirty="0"/>
              <a:t> → exclure vus → Top-5: [Zen Clinic (4.78), Pure Lounge (4.69), Diamond Place (4.57), ...]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6150" y="-15545"/>
            <a:ext cx="9720072" cy="1499616"/>
          </a:xfrm>
        </p:spPr>
        <p:txBody>
          <a:bodyPr/>
          <a:lstStyle/>
          <a:p>
            <a:r>
              <a:rPr lang="fr-FR" noProof="0" dirty="0"/>
              <a:t>Résultats d'Évaluation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7551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lang="fr-FR" noProof="0" dirty="0"/>
              <a:t>Train/Test split 80/20  |  500 utilisateurs  |  200 items  |  ~35 000 ratings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Métriques de Régression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72C4"/>
                </a:solidFill>
                <a:latin typeface="Calibri"/>
              </a:defRPr>
            </a:pPr>
            <a:r>
              <a:rPr lang="fr-FR" noProof="0" dirty="0"/>
              <a:t>RMSE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0.68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72C4"/>
                </a:solidFill>
                <a:latin typeface="Calibri"/>
              </a:defRPr>
            </a:pPr>
            <a:r>
              <a:rPr lang="fr-FR" noProof="0" dirty="0"/>
              <a:t>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0.54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383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rPr lang="fr-FR" noProof="0" dirty="0"/>
              <a:t>&lt; 1 point d'erreur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3035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Métriques de Classement (Top-5)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P@5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R@5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NDCG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Hit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926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90%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11155680" cy="41148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Test de Différenciation: 5/5 PASS — Chaque utilisateur reçoit des recommandations uniques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user_1   →  Zen Clinic, Pure Lounge, Diamond Place, Golden Clinic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user_10  →  Crystal Place, Diamond Place, Golden </a:t>
            </a:r>
            <a:r>
              <a:rPr lang="fr-FR" noProof="0" dirty="0" err="1"/>
              <a:t>Lab</a:t>
            </a:r>
            <a:r>
              <a:rPr lang="fr-FR" noProof="0" dirty="0"/>
              <a:t>, Crystal </a:t>
            </a:r>
            <a:r>
              <a:rPr lang="fr-FR" noProof="0" dirty="0" err="1"/>
              <a:t>Wellness</a:t>
            </a:r>
            <a:endParaRPr lang="fr-FR" noProof="0"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user_50  →  River Studio, Sunrise </a:t>
            </a:r>
            <a:r>
              <a:rPr lang="fr-FR" noProof="0" dirty="0" err="1"/>
              <a:t>Lab</a:t>
            </a:r>
            <a:r>
              <a:rPr lang="fr-FR" noProof="0" dirty="0"/>
              <a:t>, Golden Clinic, Summit Hub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100" b="0">
                <a:solidFill>
                  <a:srgbClr val="333333"/>
                </a:solidFill>
                <a:latin typeface="Consolas"/>
              </a:defRPr>
            </a:pPr>
            <a:r>
              <a:rPr lang="fr-FR" noProof="0" dirty="0"/>
              <a:t>user_100 →  Lotus Clinic, Harmony Lounge, Diamond Hub, </a:t>
            </a:r>
            <a:r>
              <a:rPr lang="fr-FR" noProof="0" dirty="0" err="1"/>
              <a:t>Ocean</a:t>
            </a:r>
            <a:r>
              <a:rPr lang="fr-FR" noProof="0" dirty="0"/>
              <a:t> Clinic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Data Pipeline &amp; CI/CD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828800"/>
            <a:ext cx="1920240" cy="1463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EXTRACT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Base de données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Ratings + Historique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+ Métadonnées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1284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1920240" cy="14630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TRANSFORM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Nettoyage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Suppr. </a:t>
            </a:r>
            <a:r>
              <a:rPr lang="fr-FR" noProof="0" dirty="0" err="1">
                <a:solidFill>
                  <a:srgbClr val="FFFFFF"/>
                </a:solidFill>
              </a:rPr>
              <a:t>nulls</a:t>
            </a:r>
            <a:endParaRPr lang="fr-FR" noProof="0" dirty="0"/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Durée → scores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40740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1920240" cy="14630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VALIDATE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Quality</a:t>
            </a:r>
            <a:r>
              <a:rPr lang="fr-FR" noProof="0" dirty="0">
                <a:solidFill>
                  <a:srgbClr val="FFFFFF"/>
                </a:solidFill>
              </a:rPr>
              <a:t> Gates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Min 1000 ratings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Min 50 </a:t>
            </a:r>
            <a:r>
              <a:rPr lang="fr-FR" noProof="0" dirty="0" err="1">
                <a:solidFill>
                  <a:srgbClr val="FFFFFF"/>
                </a:solidFill>
              </a:rPr>
              <a:t>users</a:t>
            </a:r>
            <a:endParaRPr lang="fr-FR" noProof="0" dirty="0"/>
          </a:p>
        </p:txBody>
      </p:sp>
      <p:sp>
        <p:nvSpPr>
          <p:cNvPr id="8" name="Right Arrow 7"/>
          <p:cNvSpPr/>
          <p:nvPr/>
        </p:nvSpPr>
        <p:spPr>
          <a:xfrm>
            <a:off x="660196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1920240" cy="146304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TRAIN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Modèle NCF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80/20 split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80 </a:t>
            </a:r>
            <a:r>
              <a:rPr lang="fr-FR" noProof="0" dirty="0" err="1">
                <a:solidFill>
                  <a:srgbClr val="FFFFFF"/>
                </a:solidFill>
              </a:rPr>
              <a:t>epochs</a:t>
            </a:r>
            <a:endParaRPr lang="fr-FR" noProof="0" dirty="0"/>
          </a:p>
        </p:txBody>
      </p:sp>
      <p:sp>
        <p:nvSpPr>
          <p:cNvPr id="10" name="Right Arrow 9"/>
          <p:cNvSpPr/>
          <p:nvPr/>
        </p:nvSpPr>
        <p:spPr>
          <a:xfrm>
            <a:off x="8796528" y="2468880"/>
            <a:ext cx="237744" cy="18288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Rounded Rectangle 10"/>
          <p:cNvSpPr/>
          <p:nvPr/>
        </p:nvSpPr>
        <p:spPr>
          <a:xfrm>
            <a:off x="9052560" y="1828800"/>
            <a:ext cx="1920240" cy="1463040"/>
          </a:xfrm>
          <a:prstGeom prst="roundRect">
            <a:avLst/>
          </a:prstGeom>
          <a:solidFill>
            <a:srgbClr val="95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EVALUATE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Métriques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RMSE ≤ 1.2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HitRate</a:t>
            </a:r>
            <a:r>
              <a:rPr lang="fr-FR" noProof="0" dirty="0">
                <a:solidFill>
                  <a:srgbClr val="FFFFFF"/>
                </a:solidFill>
              </a:rPr>
              <a:t> ≥ 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657600"/>
            <a:ext cx="11338560" cy="4114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GitHub Actions CI/CD — Exécution automatique sur chaque push/PR vers 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097280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Pipeline automatisé: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1. </a:t>
            </a:r>
            <a:r>
              <a:rPr lang="fr-FR" noProof="0" dirty="0" err="1"/>
              <a:t>Checkout</a:t>
            </a:r>
            <a:r>
              <a:rPr lang="fr-FR" noProof="0" dirty="0"/>
              <a:t> code  →  2. Setup Python 3.11  →  3. Install </a:t>
            </a:r>
            <a:r>
              <a:rPr lang="fr-FR" noProof="0" dirty="0" err="1"/>
              <a:t>deps</a:t>
            </a:r>
            <a:r>
              <a:rPr lang="fr-FR" noProof="0" dirty="0"/>
              <a:t>  →  4. Take data </a:t>
            </a:r>
            <a:r>
              <a:rPr lang="fr-FR" noProof="0" dirty="0" err="1"/>
              <a:t>from</a:t>
            </a:r>
            <a:r>
              <a:rPr lang="fr-FR" noProof="0" dirty="0"/>
              <a:t> DB  →  5. Run pipeline  →  6. Run evaluate.py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7. </a:t>
            </a:r>
            <a:r>
              <a:rPr lang="fr-FR" noProof="0" dirty="0" err="1"/>
              <a:t>Upload</a:t>
            </a:r>
            <a:r>
              <a:rPr lang="fr-FR" noProof="0" dirty="0"/>
              <a:t> </a:t>
            </a:r>
            <a:r>
              <a:rPr lang="fr-FR" noProof="0" dirty="0" err="1"/>
              <a:t>quality_report.json</a:t>
            </a:r>
            <a:r>
              <a:rPr lang="fr-FR" noProof="0" dirty="0"/>
              <a:t> comme </a:t>
            </a:r>
            <a:r>
              <a:rPr lang="fr-FR" noProof="0" dirty="0" err="1"/>
              <a:t>artifact</a:t>
            </a:r>
            <a:endParaRPr lang="fr-FR" noProof="0"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ED7D31"/>
                </a:solidFill>
                <a:latin typeface="Calibri"/>
              </a:defRPr>
            </a:pPr>
            <a:r>
              <a:rPr lang="fr-FR" noProof="0" dirty="0"/>
              <a:t>Si </a:t>
            </a:r>
            <a:r>
              <a:rPr lang="fr-FR" noProof="0" dirty="0" err="1"/>
              <a:t>quality</a:t>
            </a:r>
            <a:r>
              <a:rPr lang="fr-FR" noProof="0" dirty="0"/>
              <a:t> </a:t>
            </a:r>
            <a:r>
              <a:rPr lang="fr-FR" noProof="0" dirty="0" err="1"/>
              <a:t>gates</a:t>
            </a:r>
            <a:r>
              <a:rPr lang="fr-FR" noProof="0" dirty="0"/>
              <a:t> échouent (RMSE &gt; 1.2 ou </a:t>
            </a:r>
            <a:r>
              <a:rPr lang="fr-FR" noProof="0" dirty="0" err="1"/>
              <a:t>HitRate</a:t>
            </a:r>
            <a:r>
              <a:rPr lang="fr-FR" noProof="0" dirty="0"/>
              <a:t> &lt; 30%) → CI fail → PR bloquée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Concept Clé : Factorisation Matricielle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645920"/>
            <a:ext cx="3657600" cy="18288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Matrice R (creuse)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p1    p2    p3    p4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u1   4.0    ?    3.2    ?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u2    ?    5.0    ?    2.1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u3   1.5    ?     ?    4.0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? = inconnu (~65% de la matrice)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>
                <a:solidFill>
                  <a:srgbClr val="333333"/>
                </a:solidFill>
              </a:rPr>
              <a:t>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00400" cy="1828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U (utilisateurs, k=2)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u1  [0.9,  0.8]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u2  [0.7, -0.5]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u3  [-0.6, 0.9]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Chaque ligne = goût utilisateur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657600" cy="182880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Vᵀ (items, k=2)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p1  [ 0.9, -0.3]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p2  [ 0.8,  0.1]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p3  [ 0.5,  0.9]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E0E0E0"/>
                </a:solidFill>
                <a:latin typeface="Calibri"/>
              </a:defRPr>
            </a:pPr>
            <a:r>
              <a:rPr>
                <a:solidFill>
                  <a:srgbClr val="E8E8E8"/>
                </a:solidFill>
              </a:rPr>
              <a:t>Chaque ligne = caractéristiques item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11430000" cy="4114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 tIns="762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Prédiction = produit scalaire du vecteur utilisateur × vecteur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AD47"/>
                </a:solidFill>
                <a:latin typeface="Consolas"/>
              </a:defRPr>
            </a:pPr>
            <a:r>
              <a:rPr lang="fr-FR" noProof="0" dirty="0"/>
              <a:t>u1 × p3 = [0.9, 0.8] · [0.5, 0.9] = 0.45 + 0.72 = 1.17  (match élevé !)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ED7D31"/>
                </a:solidFill>
                <a:latin typeface="Consolas"/>
              </a:defRPr>
            </a:pPr>
            <a:r>
              <a:rPr lang="fr-FR" noProof="0" dirty="0"/>
              <a:t>u3 × p1 = [-0.6, 0.9] · [0.9, -0.3] = -0.54 + (-0.27) = -0.81  (match faible)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rPr lang="fr-FR" noProof="0" dirty="0"/>
              <a:t>L'entraînement ajuste U et V pour que U × Vᵀ ≈ R sur les entrées connues. Les entrées inconnues sont remplies automatiquement → ce sont les recommandations.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/>
              <a:t>Merci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noProof="0" dirty="0"/>
              <a:t>NI Yuzhen  |  niyuzhen2020@gmail.com</a:t>
            </a:r>
          </a:p>
          <a:p>
            <a:r>
              <a:rPr lang="fr-FR" noProof="0" dirty="0"/>
              <a:t>GitHub: github.com/Clement-NI/</a:t>
            </a:r>
            <a:r>
              <a:rPr lang="fr-FR" noProof="0" dirty="0" err="1"/>
              <a:t>recommendation_system_py</a:t>
            </a:r>
            <a:endParaRPr lang="fr-FR" noProof="0" dirty="0"/>
          </a:p>
          <a:p>
            <a:r>
              <a:rPr lang="fr-FR" noProof="0" dirty="0" err="1"/>
              <a:t>PyTorch</a:t>
            </a:r>
            <a:r>
              <a:rPr lang="fr-FR" noProof="0" dirty="0"/>
              <a:t>  |  Flask  |  SQLite  |  GitHub Actions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积分">
  <a:themeElements>
    <a:clrScheme name="积分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积分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积分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1334</Words>
  <Application>Microsoft Office PowerPoint</Application>
  <PresentationFormat>宽屏</PresentationFormat>
  <Paragraphs>185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等线</vt:lpstr>
      <vt:lpstr>Tw Cen MT</vt:lpstr>
      <vt:lpstr>Tw Cen MT Condensed</vt:lpstr>
      <vt:lpstr>Wingdings 3</vt:lpstr>
      <vt:lpstr>积分</vt:lpstr>
      <vt:lpstr>Cobook.org</vt:lpstr>
      <vt:lpstr>C’est quoi Cobook.org ?</vt:lpstr>
      <vt:lpstr>Que fais-je Chez cobook.org ?</vt:lpstr>
      <vt:lpstr>Front-end</vt:lpstr>
      <vt:lpstr>Back-end</vt:lpstr>
      <vt:lpstr>Système de Recommandation</vt:lpstr>
      <vt:lpstr>Architecture du Système de Recommandation</vt:lpstr>
      <vt:lpstr>Architecture du Modèle NCF (He et al., 2017)</vt:lpstr>
      <vt:lpstr>Processus d'Entraînement</vt:lpstr>
      <vt:lpstr>Pipeline d'Inférence (Recommandation)</vt:lpstr>
      <vt:lpstr>Résultats d'Évaluation</vt:lpstr>
      <vt:lpstr>Data Pipeline &amp; CI/CD</vt:lpstr>
      <vt:lpstr>Concept Clé : Factorisation Matricielle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Yuzhen Ni</dc:creator>
  <cp:lastModifiedBy>Yuzhen Ni</cp:lastModifiedBy>
  <cp:revision>3</cp:revision>
  <dcterms:created xsi:type="dcterms:W3CDTF">2026-06-10T20:19:05Z</dcterms:created>
  <dcterms:modified xsi:type="dcterms:W3CDTF">2026-06-10T21:08:13Z</dcterms:modified>
</cp:coreProperties>
</file>