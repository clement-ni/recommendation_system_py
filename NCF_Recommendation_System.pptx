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Calibri"/>
              </a:defRPr>
            </a:pPr>
            <a:r>
              <a:t>HYBRID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  <a:latin typeface="Calibri"/>
              </a:defRPr>
            </a:pPr>
            <a:r>
              <a:t>Neural Collaborative Filtering + Content-Based + Popularity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PyTorch  |  Flask REST API  |  SQLite /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NI Yuzhen</a:t>
            </a:r>
          </a:p>
          <a:p>
            <a:pPr>
              <a:spcAft>
                <a:spcPts val="1600"/>
              </a:spcAft>
              <a:defRPr sz="1800" b="0">
                <a:solidFill>
                  <a:srgbClr val="A0A0B0"/>
                </a:solidFill>
                <a:latin typeface="Calibri"/>
              </a:defRPr>
            </a:pPr>
            <a:r>
              <a:t>M2 — Machine Learning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Client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POST /api/recommendations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onsolas"/>
              </a:defRPr>
            </a:pPr>
            <a:r>
              <a:t>------&gt;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5603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Flask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Port 5100 | REST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onsolas"/>
              </a:defRPr>
            </a:pPr>
            <a: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17520"/>
            <a:ext cx="2926080" cy="731520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Strategy 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320040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Collaborative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NCF Model (PyTorch)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GMF path: element-wise product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MLP path: 4 Linear+ReLU layers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Fusion: Linear(40-&gt;1) + biases</a:t>
            </a:r>
          </a:p>
          <a:p>
            <a:pPr>
              <a:spcAft>
                <a:spcPts val="960"/>
              </a:spcAft>
              <a:defRPr sz="1100" b="0">
                <a:solidFill>
                  <a:srgbClr val="FBBF24"/>
                </a:solidFill>
                <a:latin typeface="Calibri"/>
              </a:defRPr>
            </a:pPr>
            <a:r>
              <a:t>Logged-in user, no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4114800"/>
            <a:ext cx="320040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Content-Based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TF-IDF + Cosine Similarity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Provider metadata (category,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genre) as feature vectors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Fuzzy matching on search query</a:t>
            </a:r>
          </a:p>
          <a:p>
            <a:pPr>
              <a:spcAft>
                <a:spcPts val="960"/>
              </a:spcAft>
              <a:defRPr sz="1100" b="0">
                <a:solidFill>
                  <a:srgbClr val="FBBF24"/>
                </a:solidFill>
                <a:latin typeface="Calibri"/>
              </a:defRPr>
            </a:pPr>
            <a:r>
              <a:t>Anonymous + search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114800"/>
            <a:ext cx="320040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Popularity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Average rating per provider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Minimum vote threshold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Cached at startup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No model needed</a:t>
            </a:r>
          </a:p>
          <a:p>
            <a:pPr>
              <a:spcAft>
                <a:spcPts val="960"/>
              </a:spcAft>
              <a:defRPr sz="1100" b="0">
                <a:solidFill>
                  <a:srgbClr val="FBBF24"/>
                </a:solidFill>
                <a:latin typeface="Calibri"/>
              </a:defRPr>
            </a:pPr>
            <a:r>
              <a:t>Anonymous, no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371600"/>
            <a:ext cx="32004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Hybrid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alpha * CF + (1-alpha) * CB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743200"/>
            <a:ext cx="3200400" cy="118872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Strategy Selection:</a:t>
            </a:r>
          </a:p>
          <a:p>
            <a:pPr>
              <a:spcAft>
                <a:spcPts val="960"/>
              </a:spcAft>
              <a:defRPr sz="1100" b="0">
                <a:solidFill>
                  <a:srgbClr val="00D2FF"/>
                </a:solidFill>
                <a:latin typeface="Calibri"/>
              </a:defRPr>
            </a:pPr>
            <a:r>
              <a:t>Known + no query --&gt; CF</a:t>
            </a:r>
          </a:p>
          <a:p>
            <a:pPr>
              <a:spcAft>
                <a:spcPts val="96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Known + query --&gt; Hybrid</a:t>
            </a:r>
          </a:p>
          <a:p>
            <a:pPr>
              <a:spcAft>
                <a:spcPts val="96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Anon + query --&gt; Content-Based</a:t>
            </a:r>
          </a:p>
          <a:p>
            <a:pPr>
              <a:spcAft>
                <a:spcPts val="960"/>
              </a:spcAft>
              <a:defRPr sz="1100" b="0">
                <a:solidFill>
                  <a:srgbClr val="FB923C"/>
                </a:solidFill>
                <a:latin typeface="Calibri"/>
              </a:defRPr>
            </a:pPr>
            <a:r>
              <a:t>Anon + no query --&gt; Popularity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NCF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He et al., 2017 — Neural Collaborative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828800" cy="731520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1828800" cy="731520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item_id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26080"/>
            <a:ext cx="53035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GMF Path (Linear Interactions)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2011680" cy="640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User Embedding</a:t>
            </a:r>
            <a:br/>
            <a:r>
              <a:t>[n_users, 32]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566160"/>
            <a:ext cx="2011680" cy="640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Item Embedding</a:t>
            </a:r>
            <a:br/>
            <a:r>
              <a:t>[n_items, 32]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72000"/>
            <a:ext cx="2926080" cy="640080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617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C3AED"/>
                </a:solidFill>
                <a:latin typeface="Calibri"/>
              </a:defRPr>
            </a:pPr>
            <a:r>
              <a:t>Element-wise Product</a:t>
            </a:r>
            <a:br/>
            <a:r>
              <a:t>Output: [batch, 32]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926080"/>
            <a:ext cx="53035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MLP Path (Non-linear Interactions)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2011680" cy="640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User MLP Emb</a:t>
            </a:r>
            <a:br/>
            <a:r>
              <a:t>[n_users, 32]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566160"/>
            <a:ext cx="2011680" cy="6400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Item MLP Emb</a:t>
            </a:r>
            <a:br/>
            <a:r>
              <a:t>[n_items, 32]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100" b="0">
                <a:solidFill>
                  <a:srgbClr val="A0A0B0"/>
                </a:solidFill>
                <a:latin typeface="Calibri"/>
              </a:defRPr>
            </a:pPr>
            <a:r>
              <a:t>Concat [64] -&gt; Linear(64,48) + ReLU + Dropout</a:t>
            </a:r>
          </a:p>
          <a:p>
            <a:pPr>
              <a:spcAft>
                <a:spcPts val="960"/>
              </a:spcAft>
              <a:defRPr sz="1100" b="0">
                <a:solidFill>
                  <a:srgbClr val="A0A0B0"/>
                </a:solidFill>
                <a:latin typeface="Calibri"/>
              </a:defRPr>
            </a:pPr>
            <a:r>
              <a:t>Linear(48,24) + ReLU + Dropout</a:t>
            </a:r>
          </a:p>
          <a:p>
            <a:pPr>
              <a:spcAft>
                <a:spcPts val="960"/>
              </a:spcAft>
              <a:defRPr sz="1100" b="0">
                <a:solidFill>
                  <a:srgbClr val="A0A0B0"/>
                </a:solidFill>
                <a:latin typeface="Calibri"/>
              </a:defRPr>
            </a:pPr>
            <a:r>
              <a:t>Linear(24,12) + ReLU + Dropout</a:t>
            </a:r>
          </a:p>
          <a:p>
            <a:pPr>
              <a:spcAft>
                <a:spcPts val="96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Output: [batch, 12]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943600"/>
            <a:ext cx="5303520" cy="731520"/>
          </a:xfrm>
          <a:prstGeom prst="roundRect">
            <a:avLst/>
          </a:prstGeom>
          <a:solidFill>
            <a:srgbClr val="3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989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Fusion: Concat [32+12=44] -&gt; Linear(44, 1) + user_bias + item_bias + global_bias -&gt;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Training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47472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Explicit Ratings (1-5 stars)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alibri"/>
              </a:defRPr>
            </a:pPr>
            <a:r>
              <a:t>35,000 user reviews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Implicit Feedback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alibri"/>
              </a:defRPr>
            </a:pPr>
            <a:r>
              <a:t>Browsing duration -&gt; log scale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Converted to 1.0-4.0 scores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47472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Training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Optimizer: Adam (lr=1e-3)</a:t>
            </a:r>
          </a:p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Loss: MSE (regression)</a:t>
            </a:r>
          </a:p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Batch size: 256</a:t>
            </a:r>
          </a:p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Epochs: 80</a:t>
            </a:r>
          </a:p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Weight decay: 5e-4 (L2)</a:t>
            </a:r>
          </a:p>
          <a:p>
            <a:pPr>
              <a:spcAft>
                <a:spcPts val="96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Dropout: 0.3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474720" cy="201168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Anti-Overfitting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Dropout(0.3)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Randomly disable 30% neurons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Weight Decay (L2)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Pull parameters toward zero</a:t>
            </a:r>
          </a:p>
          <a:p>
            <a:pPr>
              <a:spcAft>
                <a:spcPts val="960"/>
              </a:spcAft>
              <a:defRPr sz="1200" b="0">
                <a:solidFill>
                  <a:srgbClr val="A0A0B0"/>
                </a:solidFill>
                <a:latin typeface="Calibri"/>
              </a:defRPr>
            </a:pPr>
            <a:r>
              <a:t>Prevents embedding explosion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840480"/>
            <a:ext cx="11430000" cy="256032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Training Loop — Standard Deep Learning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2560320" cy="146304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1.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Input [user, item] -&gt; NCF model -&gt; predicted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572000"/>
            <a:ext cx="2560320" cy="146304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2.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MSE = mean( (predicted - actual)^2 )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72000"/>
            <a:ext cx="2560320" cy="146304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3. Backward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Autograd computes dLoss/dParam for all ~15K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572000"/>
            <a:ext cx="2560320" cy="146304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4.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Adam adjusts embeddings, Linear weights, biases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Inference: How Recommendations Are Generated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Build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Replicate user_idx N times</a:t>
            </a:r>
            <a:br/>
            <a:r>
              <a:t>Pair with all item indices</a:t>
            </a:r>
            <a:br/>
            <a:r>
              <a:t>-&gt; [N, 2] tensor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Forward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One pass through NCF</a:t>
            </a:r>
            <a:br/>
            <a:r>
              <a:t>All N items scored in parallel</a:t>
            </a:r>
            <a:br/>
            <a:r>
              <a:t>-&gt; [N] predicted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Sort &amp;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Sort scores descending</a:t>
            </a:r>
            <a:br/>
            <a:r>
              <a:t>Exclude already-seen items</a:t>
            </a:r>
            <a:br/>
            <a:r>
              <a:t>Take Top-K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860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Map indices back to IDs</a:t>
            </a:r>
            <a:br/>
            <a:r>
              <a:t>Attach provider names</a:t>
            </a:r>
            <a:br/>
            <a:r>
              <a:t>JSON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Example: user_90 requests Top-5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400" b="0">
                <a:solidFill>
                  <a:srgbClr val="00D2FF"/>
                </a:solidFill>
                <a:latin typeface="Consolas"/>
              </a:defRPr>
            </a:pPr>
            <a:r>
              <a:t>[89,89,...,89] x [0,1,2,...,199]  -&gt;  stack [200, 2]  -&gt;  forward()  -&gt;  [200] scores</a:t>
            </a:r>
          </a:p>
          <a:p>
            <a:pPr>
              <a:spcAft>
                <a:spcPts val="96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960"/>
              </a:spcAft>
              <a:defRPr sz="1400" b="0">
                <a:solidFill>
                  <a:srgbClr val="10B981"/>
                </a:solidFill>
                <a:latin typeface="Consolas"/>
              </a:defRPr>
            </a:pPr>
            <a:r>
              <a:t>argsort descending -&gt; exclude seen -&gt; Top-5: [Zen Clinic(4.78), Pure Lounge(4.69), Diamond Place(4.57), ...]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80/20 train/test split  |  500 users  |  200 items  |  35K ratings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5486400" cy="22860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Regression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28600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0.68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NRMSE: 17%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86000"/>
            <a:ext cx="228600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0.54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&lt; 1 point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486400" cy="22860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Ranking Metrics (Top-5)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109728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P@5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46%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286000"/>
            <a:ext cx="109728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R@5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651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286000"/>
            <a:ext cx="109728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NDCG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2286000"/>
            <a:ext cx="1097280" cy="12801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Hit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651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923C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297680"/>
            <a:ext cx="11338560" cy="210312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389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User Differentiation Test: 5/5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user_1    -&gt;  Zen Clinic, Pure Lounge, Diamond Place, Golden Clinic, Golden Place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user_10   -&gt;  Crystal Place, Diamond Place, Golden Lab, Crystal Wellness, Sunrise Place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user_50   -&gt;  River Studio, Sunrise Lab, Golden Clinic, Summit Hub, Forest Zone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user_100  -&gt;  Lotus Clinic, Harmony Lounge, Diamond Hub, Ocean Clinic, Crystal Retreat</a:t>
            </a:r>
          </a:p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user_150  -&gt;  Lotus Clinic, Forest Zone, Star Place, Forest Lab, Crystal Retreat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Data Pipeline &amp; CI/CD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031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Pull from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Explicit ratings</a:t>
            </a:r>
            <a:br/>
            <a:r>
              <a:t>Implicit history</a:t>
            </a:r>
            <a:br/>
            <a:r>
              <a:t>Provider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71600"/>
            <a:ext cx="21031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Clean &amp;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Remove nulls</a:t>
            </a:r>
            <a:br/>
            <a:r>
              <a:t>Duration -&gt; scores</a:t>
            </a:r>
            <a:br/>
            <a:r>
              <a:t>Explicit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031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Quality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Min 1000 ratings</a:t>
            </a:r>
            <a:br/>
            <a:r>
              <a:t>Min 50 users</a:t>
            </a:r>
            <a:br/>
            <a:r>
              <a:t>No null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371600"/>
            <a:ext cx="21031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NCF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286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80/20 split</a:t>
            </a:r>
            <a:br/>
            <a:r>
              <a:t>80 epochs</a:t>
            </a:r>
            <a:br/>
            <a:r>
              <a:t>Save model.pt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71600"/>
            <a:ext cx="2103120" cy="27432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Metrics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286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RMSE &lt;= 1.2</a:t>
            </a:r>
            <a:br/>
            <a:r>
              <a:t>HitRate &gt;= 30%</a:t>
            </a:r>
            <a:br/>
            <a:r>
              <a:t>APPROVED/REJECTED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572000"/>
            <a:ext cx="11338560" cy="182880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6634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GitHub Actions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On every push/PR to main:</a:t>
            </a:r>
          </a:p>
          <a:p>
            <a:pPr>
              <a:spcAft>
                <a:spcPts val="960"/>
              </a:spcAft>
              <a:defRPr sz="1400" b="0">
                <a:solidFill>
                  <a:srgbClr val="00D2FF"/>
                </a:solidFill>
                <a:latin typeface="Calibri"/>
              </a:defRPr>
            </a:pPr>
            <a:r>
              <a:t>Install deps -&gt; Generate DB -&gt; Run pipeline -&gt; Run evaluation -&gt; Upload report</a:t>
            </a:r>
          </a:p>
          <a:p>
            <a:pPr>
              <a:spcAft>
                <a:spcPts val="96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If quality gates fail (RMSE &gt; 1.2 or HitRate &lt; 30%) -&gt; CI fails -&gt; PR blocked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Core Concept: Matrix Factorization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4389120" cy="256032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Rating Matrix R (sparse)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A0A0B0"/>
                </a:solidFill>
                <a:latin typeface="Consolas"/>
              </a:defRPr>
            </a:pPr>
            <a:r>
              <a:t>         p1   p2   p3   p4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user_1  4.0    ?   3.2   ?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user_2   ?   5.0    ?   2.1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user_3  1.5    ?    ?   4.0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960"/>
              </a:spcAft>
              <a:defRPr sz="1200" b="0">
                <a:solidFill>
                  <a:srgbClr val="FBBF24"/>
                </a:solidFill>
                <a:latin typeface="Consolas"/>
              </a:defRPr>
            </a:pPr>
            <a:r>
              <a:t>? = unknown (65% of the matrix)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280160"/>
            <a:ext cx="2743200" cy="256032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U (users, k=2)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user_1  [0.9, 0.8]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user_2  [0.7,-0.5]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user_3  [-0.6,0.9]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960"/>
              </a:spcAft>
              <a:defRPr sz="1200" b="0">
                <a:solidFill>
                  <a:srgbClr val="00D2FF"/>
                </a:solidFill>
                <a:latin typeface="Consolas"/>
              </a:defRPr>
            </a:pPr>
            <a:r>
              <a:t>Each row = user taste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280160"/>
            <a:ext cx="3200400" cy="256032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V^T (items, k=2)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828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p1 [0.9, -0.3]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p2 [0.8,  0.1]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p3 [0.5,  0.9]</a:t>
            </a:r>
          </a:p>
          <a:p>
            <a:pPr>
              <a:spcAft>
                <a:spcPts val="96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p4 [-0.3, 0.8]</a:t>
            </a:r>
          </a:p>
          <a:p>
            <a:pPr>
              <a:spcAft>
                <a:spcPts val="96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Each row = item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206240"/>
            <a:ext cx="11338560" cy="228600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97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Prediction = dot product of user and item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500" b="0">
                <a:solidFill>
                  <a:srgbClr val="00D2FF"/>
                </a:solidFill>
                <a:latin typeface="Calibri"/>
              </a:defRPr>
            </a:pPr>
            <a:r>
              <a:t>user_1 x p3 = [0.9, 0.8] . [0.5, 0.9] = 0.9*0.5 + 0.8*0.9 = 1.17  (high match!)</a:t>
            </a:r>
          </a:p>
          <a:p>
            <a:pPr>
              <a:spcAft>
                <a:spcPts val="960"/>
              </a:spcAft>
              <a:defRPr sz="1500" b="0">
                <a:solidFill>
                  <a:srgbClr val="EF4444"/>
                </a:solidFill>
                <a:latin typeface="Calibri"/>
              </a:defRPr>
            </a:pPr>
            <a:r>
              <a:t>user_3 x p1 = [-0.6, 0.9] . [0.9, -0.3] = -0.6*0.9 + 0.9*(-0.3) = -0.81  (low match)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Training adjusts U and V so that U x V^T approximates R on known entries.</a:t>
            </a:r>
          </a:p>
          <a:p>
            <a:pPr>
              <a:spcAft>
                <a:spcPts val="960"/>
              </a:spcAft>
              <a:defRPr sz="1400" b="0">
                <a:solidFill>
                  <a:srgbClr val="FBBF24"/>
                </a:solidFill>
                <a:latin typeface="Calibri"/>
              </a:defRPr>
            </a:pPr>
            <a:r>
              <a:t>Unknown entries are automatically filled -&gt; these are the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Scaling &amp; 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303520" cy="22860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Brute-force scoring (user x all items)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Works for 500 x 200 = 100K pairs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Won't scale to millions of items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Synthetic data (Gaussian patterns)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RMSE 0.67 not comparable to real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486400" cy="22860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Production Scaling: Two-Stage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500" b="1">
                <a:solidFill>
                  <a:srgbClr val="00D2FF"/>
                </a:solidFill>
                <a:latin typeface="Calibri"/>
              </a:defRPr>
            </a:pPr>
            <a:r>
              <a:t>Stage 1: Recall (FAISS / ANN)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1M items -&gt; ~1000 candidates in O(log n)</a:t>
            </a:r>
          </a:p>
          <a:p>
            <a:pPr>
              <a:spcAft>
                <a:spcPts val="96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500" b="1">
                <a:solidFill>
                  <a:srgbClr val="10B981"/>
                </a:solidFill>
                <a:latin typeface="Calibri"/>
              </a:defRPr>
            </a:pPr>
            <a:r>
              <a:t>Stage 2: Ranking (NCF)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Score only 1000 candidates precisely</a:t>
            </a:r>
          </a:p>
          <a:p>
            <a:pPr>
              <a:spcAft>
                <a:spcPts val="960"/>
              </a:spcAft>
              <a:defRPr sz="1400" b="0">
                <a:solidFill>
                  <a:srgbClr val="A0A0B0"/>
                </a:solidFill>
                <a:latin typeface="Calibri"/>
              </a:defRPr>
            </a:pPr>
            <a:r>
              <a:t>Return Top-K to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11338560" cy="2286000"/>
          </a:xfrm>
          <a:prstGeom prst="roundRect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206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2560320" cy="13716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Early Stopping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Stop when validation</a:t>
            </a:r>
            <a:br/>
            <a:r>
              <a:t>loss plateaus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754880"/>
            <a:ext cx="2560320" cy="13716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Optuna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Bayesian hyperparameter</a:t>
            </a:r>
            <a:br/>
            <a:r>
              <a:t>search (50 trials)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54880"/>
            <a:ext cx="2560320" cy="13716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Temporal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Weight recent ratings</a:t>
            </a:r>
            <a:br/>
            <a:r>
              <a:t>higher than old 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754880"/>
            <a:ext cx="2560320" cy="1371600"/>
          </a:xfrm>
          <a:prstGeom prst="round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212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Learn which latent</a:t>
            </a:r>
            <a:br/>
            <a:r>
              <a:t>factors matter most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175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NI Yuzhen</a:t>
            </a:r>
          </a:p>
          <a:p>
            <a:pPr>
              <a:spcAft>
                <a:spcPts val="960"/>
              </a:spcAft>
              <a:defRPr sz="1800" b="0">
                <a:solidFill>
                  <a:srgbClr val="A0A0B0"/>
                </a:solidFill>
                <a:latin typeface="Calibri"/>
              </a:defRPr>
            </a:pPr>
            <a:r>
              <a:t>niyuzhen2020@gmail.com</a:t>
            </a:r>
          </a:p>
          <a:p>
            <a:pPr>
              <a:spcAft>
                <a:spcPts val="96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00D2FF"/>
                </a:solidFill>
                <a:latin typeface="Calibri"/>
              </a:defRPr>
            </a:pPr>
            <a:r>
              <a:t>GitHub: github.com/Clement-NI/recommendation_system_py</a:t>
            </a:r>
          </a:p>
          <a:p>
            <a:pPr>
              <a:spcAft>
                <a:spcPts val="96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A0A0B0"/>
                </a:solidFill>
                <a:latin typeface="Calibri"/>
              </a:defRPr>
            </a:pPr>
            <a:r>
              <a:t>Technologies: PyTorch | Flask | SQLite | GitHub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